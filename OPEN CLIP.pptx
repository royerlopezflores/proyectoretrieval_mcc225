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8" r:id="rId2"/>
    <p:sldId id="259" r:id="rId3"/>
    <p:sldId id="261" r:id="rId4"/>
    <p:sldId id="263" r:id="rId5"/>
    <p:sldId id="260" r:id="rId6"/>
    <p:sldId id="264" r:id="rId7"/>
    <p:sldId id="265" r:id="rId8"/>
    <p:sldId id="266" r:id="rId9"/>
    <p:sldId id="267" r:id="rId10"/>
    <p:sldId id="268" r:id="rId11"/>
    <p:sldId id="270" r:id="rId12"/>
    <p:sldId id="26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852B6-D833-40FF-BC81-B1F9385AA59C}" type="datetimeFigureOut">
              <a:rPr lang="es-PE" smtClean="0"/>
              <a:t>15/05/2026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FBD7F-B281-40E2-A24F-1D3AA9636DD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7029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852B6-D833-40FF-BC81-B1F9385AA59C}" type="datetimeFigureOut">
              <a:rPr lang="es-PE" smtClean="0"/>
              <a:t>15/05/2026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FBD7F-B281-40E2-A24F-1D3AA9636DD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36291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852B6-D833-40FF-BC81-B1F9385AA59C}" type="datetimeFigureOut">
              <a:rPr lang="es-PE" smtClean="0"/>
              <a:t>15/05/2026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FBD7F-B281-40E2-A24F-1D3AA9636DD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7854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852B6-D833-40FF-BC81-B1F9385AA59C}" type="datetimeFigureOut">
              <a:rPr lang="es-PE" smtClean="0"/>
              <a:t>15/05/2026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FBD7F-B281-40E2-A24F-1D3AA9636DD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64212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852B6-D833-40FF-BC81-B1F9385AA59C}" type="datetimeFigureOut">
              <a:rPr lang="es-PE" smtClean="0"/>
              <a:t>15/05/2026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FBD7F-B281-40E2-A24F-1D3AA9636DD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11463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852B6-D833-40FF-BC81-B1F9385AA59C}" type="datetimeFigureOut">
              <a:rPr lang="es-PE" smtClean="0"/>
              <a:t>15/05/2026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FBD7F-B281-40E2-A24F-1D3AA9636DD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16368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852B6-D833-40FF-BC81-B1F9385AA59C}" type="datetimeFigureOut">
              <a:rPr lang="es-PE" smtClean="0"/>
              <a:t>15/05/2026</a:t>
            </a:fld>
            <a:endParaRPr lang="es-P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FBD7F-B281-40E2-A24F-1D3AA9636DD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93617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852B6-D833-40FF-BC81-B1F9385AA59C}" type="datetimeFigureOut">
              <a:rPr lang="es-PE" smtClean="0"/>
              <a:t>15/05/2026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FBD7F-B281-40E2-A24F-1D3AA9636DD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66564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852B6-D833-40FF-BC81-B1F9385AA59C}" type="datetimeFigureOut">
              <a:rPr lang="es-PE" smtClean="0"/>
              <a:t>15/05/2026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FBD7F-B281-40E2-A24F-1D3AA9636DD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47973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852B6-D833-40FF-BC81-B1F9385AA59C}" type="datetimeFigureOut">
              <a:rPr lang="es-PE" smtClean="0"/>
              <a:t>15/05/2026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FBD7F-B281-40E2-A24F-1D3AA9636DD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2073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852B6-D833-40FF-BC81-B1F9385AA59C}" type="datetimeFigureOut">
              <a:rPr lang="es-PE" smtClean="0"/>
              <a:t>15/05/2026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FBD7F-B281-40E2-A24F-1D3AA9636DD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00323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D852B6-D833-40FF-BC81-B1F9385AA59C}" type="datetimeFigureOut">
              <a:rPr lang="es-PE" smtClean="0"/>
              <a:t>15/05/2026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9FBD7F-B281-40E2-A24F-1D3AA9636DD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1177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975FAF3-CBE0-8F7C-C787-74822930C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s-MX" sz="4000" dirty="0">
                <a:solidFill>
                  <a:srgbClr val="FFFFFF"/>
                </a:solidFill>
              </a:rPr>
              <a:t>OPEN CLIP/ LiT</a:t>
            </a:r>
            <a:br>
              <a:rPr lang="es-MX" sz="4000" dirty="0">
                <a:solidFill>
                  <a:srgbClr val="FFFFFF"/>
                </a:solidFill>
              </a:rPr>
            </a:br>
            <a:r>
              <a:rPr lang="es-MX" sz="4000" b="1" dirty="0">
                <a:solidFill>
                  <a:srgbClr val="FFFFFF"/>
                </a:solidFill>
              </a:rPr>
              <a:t>Generando un </a:t>
            </a:r>
            <a:r>
              <a:rPr lang="es-MX" sz="4000" b="1">
                <a:solidFill>
                  <a:srgbClr val="FFFFFF"/>
                </a:solidFill>
              </a:rPr>
              <a:t>retrieval</a:t>
            </a:r>
            <a:endParaRPr lang="es-PE" sz="4000" b="1" dirty="0">
              <a:solidFill>
                <a:srgbClr val="FFFFFF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0883956-DD19-DE5E-FEEE-992162B60D02}"/>
              </a:ext>
            </a:extLst>
          </p:cNvPr>
          <p:cNvSpPr txBox="1"/>
          <p:nvPr/>
        </p:nvSpPr>
        <p:spPr>
          <a:xfrm>
            <a:off x="7767447" y="5186066"/>
            <a:ext cx="384804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800" dirty="0"/>
              <a:t>Lopez Flores Royer Amed</a:t>
            </a:r>
          </a:p>
          <a:p>
            <a:r>
              <a:rPr lang="es-MX" sz="2000" dirty="0"/>
              <a:t>Cuadernos asignados: 6, 9 y 10</a:t>
            </a:r>
            <a:endParaRPr lang="es-PE" sz="20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FCD16A2-DC5B-D64E-4547-6C261D30E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4234" y="1256435"/>
            <a:ext cx="4551370" cy="3012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430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AA31990-0E83-AF14-77E9-932C4A188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400">
                <a:solidFill>
                  <a:srgbClr val="FFFFFF"/>
                </a:solidFill>
              </a:rPr>
              <a:t>Problema, motivación y modalidades.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0DC1299-87F2-27C2-93F9-C0D2FA97D188}"/>
              </a:ext>
            </a:extLst>
          </p:cNvPr>
          <p:cNvSpPr txBox="1"/>
          <p:nvPr/>
        </p:nvSpPr>
        <p:spPr>
          <a:xfrm>
            <a:off x="457198" y="4410603"/>
            <a:ext cx="4752332" cy="12048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La </a:t>
            </a:r>
            <a:r>
              <a:rPr lang="en-US" dirty="0" err="1"/>
              <a:t>solución</a:t>
            </a:r>
            <a:r>
              <a:rPr lang="en-US" dirty="0"/>
              <a:t> es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uso</a:t>
            </a:r>
            <a:r>
              <a:rPr lang="en-US" dirty="0"/>
              <a:t> de </a:t>
            </a:r>
            <a:r>
              <a:rPr lang="en-US" dirty="0" err="1"/>
              <a:t>LiT</a:t>
            </a:r>
            <a:r>
              <a:rPr lang="en-US" b="1" dirty="0"/>
              <a:t> (Bi-encoder </a:t>
            </a:r>
            <a:r>
              <a:rPr lang="en-US" b="1" dirty="0" err="1"/>
              <a:t>contrastivo</a:t>
            </a:r>
            <a:r>
              <a:rPr lang="en-US" b="1" dirty="0"/>
              <a:t>)</a:t>
            </a:r>
            <a:r>
              <a:rPr lang="en-US" dirty="0"/>
              <a:t>, </a:t>
            </a:r>
            <a:r>
              <a:rPr lang="en-US" dirty="0" err="1"/>
              <a:t>congelar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encoder de imagen y </a:t>
            </a:r>
            <a:r>
              <a:rPr lang="en-US" dirty="0" err="1"/>
              <a:t>entrenar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modelo</a:t>
            </a:r>
            <a:r>
              <a:rPr lang="en-US" dirty="0"/>
              <a:t> de </a:t>
            </a:r>
            <a:r>
              <a:rPr lang="en-US" dirty="0" err="1"/>
              <a:t>texto</a:t>
            </a:r>
            <a:endParaRPr lang="en-U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CA41E8B-045F-0092-35DD-6B11D78DBF60}"/>
              </a:ext>
            </a:extLst>
          </p:cNvPr>
          <p:cNvSpPr txBox="1"/>
          <p:nvPr/>
        </p:nvSpPr>
        <p:spPr>
          <a:xfrm>
            <a:off x="457200" y="5615414"/>
            <a:ext cx="2825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MX" b="1" dirty="0"/>
              <a:t>Modalidad: </a:t>
            </a:r>
            <a:r>
              <a:rPr lang="es-MX" dirty="0"/>
              <a:t>Imagen y Texto, </a:t>
            </a:r>
            <a:endParaRPr lang="es-PE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C5A95B9-7C61-CD47-3F00-4C4C4A9CA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2141769"/>
            <a:ext cx="6239288" cy="4129692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BD2774AA-F373-74AE-BFEC-C0D126CED752}"/>
              </a:ext>
            </a:extLst>
          </p:cNvPr>
          <p:cNvSpPr txBox="1"/>
          <p:nvPr/>
        </p:nvSpPr>
        <p:spPr>
          <a:xfrm>
            <a:off x="9935189" y="2596162"/>
            <a:ext cx="5818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/>
              <a:t>GPT-2</a:t>
            </a:r>
            <a:endParaRPr lang="es-PE" sz="12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FD4FC86-BCA5-054C-7059-03B77D9A34BD}"/>
              </a:ext>
            </a:extLst>
          </p:cNvPr>
          <p:cNvSpPr txBox="1"/>
          <p:nvPr/>
        </p:nvSpPr>
        <p:spPr>
          <a:xfrm>
            <a:off x="10630117" y="2596162"/>
            <a:ext cx="5225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/>
              <a:t>BERT</a:t>
            </a:r>
            <a:endParaRPr lang="es-PE" sz="120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5380948-8CB1-E29B-4399-C47E2C9691F8}"/>
              </a:ext>
            </a:extLst>
          </p:cNvPr>
          <p:cNvSpPr txBox="1"/>
          <p:nvPr/>
        </p:nvSpPr>
        <p:spPr>
          <a:xfrm rot="5400000">
            <a:off x="8379914" y="4188156"/>
            <a:ext cx="4779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/>
              <a:t>CNN</a:t>
            </a:r>
            <a:endParaRPr lang="es-PE" sz="120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9DD4664-2A95-C19C-BE0A-52FD515C7105}"/>
              </a:ext>
            </a:extLst>
          </p:cNvPr>
          <p:cNvSpPr txBox="1"/>
          <p:nvPr/>
        </p:nvSpPr>
        <p:spPr>
          <a:xfrm rot="5400000">
            <a:off x="8127164" y="5245185"/>
            <a:ext cx="9834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 err="1"/>
              <a:t>Transformer</a:t>
            </a:r>
            <a:endParaRPr lang="es-PE" sz="12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7A44D03-8811-FBBD-8977-61ABA2CF525A}"/>
              </a:ext>
            </a:extLst>
          </p:cNvPr>
          <p:cNvSpPr txBox="1"/>
          <p:nvPr/>
        </p:nvSpPr>
        <p:spPr>
          <a:xfrm>
            <a:off x="457198" y="1649006"/>
            <a:ext cx="5748528" cy="309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MX" dirty="0"/>
              <a:t>Crear un agente de recuperación multimodal para e-</a:t>
            </a:r>
            <a:r>
              <a:rPr lang="es-MX" dirty="0" err="1"/>
              <a:t>commerce</a:t>
            </a:r>
            <a:r>
              <a:rPr lang="es-MX" dirty="0"/>
              <a:t>, pero entrenar un modelo dual (como CLIP/</a:t>
            </a:r>
            <a:r>
              <a:rPr lang="es-MX" dirty="0" err="1"/>
              <a:t>OpenCLIP</a:t>
            </a:r>
            <a:r>
              <a:rPr lang="es-MX" dirty="0"/>
              <a:t>) desde cero requiere recursos computacionales masivos. Además, hacer </a:t>
            </a:r>
            <a:r>
              <a:rPr lang="es-MX" i="1" dirty="0"/>
              <a:t>fine-</a:t>
            </a:r>
            <a:r>
              <a:rPr lang="es-MX" i="1" dirty="0" err="1"/>
              <a:t>tuning</a:t>
            </a:r>
            <a:r>
              <a:rPr lang="es-MX" dirty="0"/>
              <a:t> de ambos </a:t>
            </a:r>
            <a:r>
              <a:rPr lang="es-MX" dirty="0" err="1"/>
              <a:t>encoders</a:t>
            </a:r>
            <a:r>
              <a:rPr lang="es-MX" dirty="0"/>
              <a:t> en un </a:t>
            </a:r>
            <a:r>
              <a:rPr lang="es-MX" dirty="0" err="1"/>
              <a:t>dataset</a:t>
            </a:r>
            <a:r>
              <a:rPr lang="es-MX" dirty="0"/>
              <a:t> pequeño destruye representaciones ricas previas (olvido catastrófico).</a:t>
            </a:r>
          </a:p>
          <a:p>
            <a:pPr>
              <a:spcAft>
                <a:spcPts val="600"/>
              </a:spcAft>
            </a:pPr>
            <a:endParaRPr lang="es-MX" dirty="0"/>
          </a:p>
          <a:p>
            <a:pPr>
              <a:spcAft>
                <a:spcPts val="600"/>
              </a:spcAft>
            </a:pPr>
            <a:r>
              <a:rPr lang="es-MX" dirty="0"/>
              <a:t>Buscando que combinación de modelos es mejor CNN, </a:t>
            </a:r>
            <a:r>
              <a:rPr lang="es-MX" dirty="0" err="1"/>
              <a:t>tranformers</a:t>
            </a:r>
            <a:r>
              <a:rPr lang="es-MX" dirty="0"/>
              <a:t>, Bert o GPT-2.</a:t>
            </a:r>
          </a:p>
          <a:p>
            <a:pPr>
              <a:spcAft>
                <a:spcPts val="600"/>
              </a:spcAft>
            </a:pPr>
            <a:endParaRPr lang="es-PE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3E2C1A2A-6627-5A5C-2A68-A1F30366A2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145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CA935-37B1-81E9-72D6-A6A9B93D5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703D0E62-64FE-C605-B23F-714E5B84FB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" y="959376"/>
            <a:ext cx="6239288" cy="4129692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722D9BC5-730B-7489-C19E-6B3ECF5120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16D1F1FD-E6ED-4574-A0C9-92B7D9B75E8A}"/>
              </a:ext>
            </a:extLst>
          </p:cNvPr>
          <p:cNvSpPr txBox="1"/>
          <p:nvPr/>
        </p:nvSpPr>
        <p:spPr>
          <a:xfrm flipH="1">
            <a:off x="944054" y="195590"/>
            <a:ext cx="51297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b="1" dirty="0"/>
              <a:t>Arquitectura (LiT Bi-</a:t>
            </a:r>
            <a:r>
              <a:rPr lang="es-PE" sz="2800" b="1" dirty="0" err="1"/>
              <a:t>Encoder</a:t>
            </a:r>
            <a:r>
              <a:rPr lang="es-PE" sz="2800" b="1" dirty="0"/>
              <a:t>)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DAD6028F-3031-6FE6-EFDC-2CC945A26F7F}"/>
              </a:ext>
            </a:extLst>
          </p:cNvPr>
          <p:cNvCxnSpPr/>
          <p:nvPr/>
        </p:nvCxnSpPr>
        <p:spPr>
          <a:xfrm>
            <a:off x="793178" y="4444684"/>
            <a:ext cx="232257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3775D13D-DAED-D2D8-306C-7EC6D0A3D150}"/>
              </a:ext>
            </a:extLst>
          </p:cNvPr>
          <p:cNvSpPr txBox="1"/>
          <p:nvPr/>
        </p:nvSpPr>
        <p:spPr>
          <a:xfrm>
            <a:off x="1363759" y="4444684"/>
            <a:ext cx="118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Congelado</a:t>
            </a:r>
            <a:endParaRPr lang="es-PE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82E9A9B2-8EE0-1E6E-EFDA-AAA3E66E624A}"/>
              </a:ext>
            </a:extLst>
          </p:cNvPr>
          <p:cNvSpPr txBox="1"/>
          <p:nvPr/>
        </p:nvSpPr>
        <p:spPr>
          <a:xfrm>
            <a:off x="623095" y="5529292"/>
            <a:ext cx="3743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Solo vamos a entrenar el </a:t>
            </a:r>
            <a:r>
              <a:rPr lang="es-MX" dirty="0" err="1"/>
              <a:t>text</a:t>
            </a:r>
            <a:r>
              <a:rPr lang="es-MX" dirty="0"/>
              <a:t> </a:t>
            </a:r>
            <a:r>
              <a:rPr lang="es-MX" dirty="0" err="1"/>
              <a:t>encoder</a:t>
            </a:r>
            <a:r>
              <a:rPr lang="es-MX" dirty="0"/>
              <a:t>.</a:t>
            </a:r>
            <a:endParaRPr lang="es-PE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4C4B89C-4BA3-FA48-3812-02595BB76C3F}"/>
              </a:ext>
            </a:extLst>
          </p:cNvPr>
          <p:cNvSpPr/>
          <p:nvPr/>
        </p:nvSpPr>
        <p:spPr>
          <a:xfrm>
            <a:off x="8381981" y="834665"/>
            <a:ext cx="1951349" cy="9144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Elección de </a:t>
            </a:r>
            <a:r>
              <a:rPr lang="es-MX" dirty="0" err="1"/>
              <a:t>text_encoder</a:t>
            </a:r>
            <a:endParaRPr lang="es-MX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243BB7A-FF32-8D90-A0FF-92F0B63DBE1C}"/>
              </a:ext>
            </a:extLst>
          </p:cNvPr>
          <p:cNvSpPr/>
          <p:nvPr/>
        </p:nvSpPr>
        <p:spPr>
          <a:xfrm>
            <a:off x="8381981" y="1908520"/>
            <a:ext cx="1951349" cy="9144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Elección de </a:t>
            </a:r>
            <a:r>
              <a:rPr lang="es-MX" dirty="0" err="1"/>
              <a:t>image</a:t>
            </a:r>
            <a:r>
              <a:rPr lang="es-MX" dirty="0"/>
              <a:t> </a:t>
            </a:r>
            <a:r>
              <a:rPr lang="es-MX" dirty="0" err="1"/>
              <a:t>encoder</a:t>
            </a:r>
            <a:endParaRPr lang="es-PE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F466F21-C774-FE45-E6E7-A4572DBD5EC0}"/>
              </a:ext>
            </a:extLst>
          </p:cNvPr>
          <p:cNvSpPr/>
          <p:nvPr/>
        </p:nvSpPr>
        <p:spPr>
          <a:xfrm>
            <a:off x="8381980" y="3073515"/>
            <a:ext cx="1951349" cy="9144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Congelar los pesos del </a:t>
            </a:r>
            <a:r>
              <a:rPr lang="es-MX" dirty="0" err="1"/>
              <a:t>image</a:t>
            </a:r>
            <a:r>
              <a:rPr lang="es-MX" dirty="0"/>
              <a:t> </a:t>
            </a:r>
            <a:r>
              <a:rPr lang="es-MX" dirty="0" err="1"/>
              <a:t>encoder</a:t>
            </a:r>
            <a:endParaRPr lang="es-PE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D833E68-0BE0-CDB4-8349-ECD2CC7D26BF}"/>
              </a:ext>
            </a:extLst>
          </p:cNvPr>
          <p:cNvSpPr/>
          <p:nvPr/>
        </p:nvSpPr>
        <p:spPr>
          <a:xfrm>
            <a:off x="8381979" y="4308327"/>
            <a:ext cx="1951349" cy="9144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Entrenar el </a:t>
            </a:r>
            <a:r>
              <a:rPr lang="es-MX" dirty="0" err="1"/>
              <a:t>text</a:t>
            </a:r>
            <a:r>
              <a:rPr lang="es-MX" dirty="0"/>
              <a:t> </a:t>
            </a:r>
            <a:r>
              <a:rPr lang="es-MX" dirty="0" err="1"/>
              <a:t>encoder</a:t>
            </a:r>
            <a:endParaRPr lang="es-PE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70BD39B-9149-357E-BED3-D8B7F44E77B8}"/>
              </a:ext>
            </a:extLst>
          </p:cNvPr>
          <p:cNvSpPr/>
          <p:nvPr/>
        </p:nvSpPr>
        <p:spPr>
          <a:xfrm>
            <a:off x="8381980" y="5543139"/>
            <a:ext cx="1951349" cy="9144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Validar el modelo(</a:t>
            </a:r>
            <a:r>
              <a:rPr lang="es-MX" dirty="0" err="1"/>
              <a:t>R@k</a:t>
            </a:r>
            <a:r>
              <a:rPr lang="es-MX" dirty="0"/>
              <a:t>)</a:t>
            </a:r>
            <a:endParaRPr lang="es-PE" dirty="0"/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6C3B2D6C-4E1B-2F60-04FC-DB9240172849}"/>
              </a:ext>
            </a:extLst>
          </p:cNvPr>
          <p:cNvCxnSpPr>
            <a:stCxn id="2" idx="2"/>
          </p:cNvCxnSpPr>
          <p:nvPr/>
        </p:nvCxnSpPr>
        <p:spPr>
          <a:xfrm flipH="1">
            <a:off x="9357653" y="1749065"/>
            <a:ext cx="3" cy="1594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9B647BC5-8D5E-C245-D202-E46BFDA6624B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9357655" y="2822920"/>
            <a:ext cx="1" cy="2505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979AED4D-15CA-C277-30B9-56F77AB12446}"/>
              </a:ext>
            </a:extLst>
          </p:cNvPr>
          <p:cNvCxnSpPr>
            <a:stCxn id="5" idx="2"/>
            <a:endCxn id="6" idx="0"/>
          </p:cNvCxnSpPr>
          <p:nvPr/>
        </p:nvCxnSpPr>
        <p:spPr>
          <a:xfrm flipH="1">
            <a:off x="9357654" y="3987915"/>
            <a:ext cx="1" cy="3204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775ABA59-0940-A9C1-A10D-AB9605F62A00}"/>
              </a:ext>
            </a:extLst>
          </p:cNvPr>
          <p:cNvCxnSpPr>
            <a:stCxn id="6" idx="2"/>
            <a:endCxn id="8" idx="0"/>
          </p:cNvCxnSpPr>
          <p:nvPr/>
        </p:nvCxnSpPr>
        <p:spPr>
          <a:xfrm>
            <a:off x="9357654" y="5222727"/>
            <a:ext cx="1" cy="3204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507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03D06-44C3-9AEB-8AE1-5C4656F70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75797585-7B64-0554-BCC8-66EAE811D5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962F49D8-BB1E-BE77-3B3B-3C881AB1CDF5}"/>
              </a:ext>
            </a:extLst>
          </p:cNvPr>
          <p:cNvSpPr txBox="1"/>
          <p:nvPr/>
        </p:nvSpPr>
        <p:spPr>
          <a:xfrm flipH="1">
            <a:off x="1236285" y="161104"/>
            <a:ext cx="51297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b="1" dirty="0"/>
              <a:t>Entrenamiento, pérdidas y datos.</a:t>
            </a:r>
          </a:p>
        </p:txBody>
      </p:sp>
      <p:pic>
        <p:nvPicPr>
          <p:cNvPr id="1026" name="Picture 2" descr="Grid search icon vector image can be used for data science ...">
            <a:extLst>
              <a:ext uri="{FF2B5EF4-FFF2-40B4-BE49-F238E27FC236}">
                <a16:creationId xmlns:a16="http://schemas.microsoft.com/office/drawing/2014/main" id="{D20AFA73-C00A-2433-01E0-3932405AC9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0529" y="4861069"/>
            <a:ext cx="1351039" cy="1351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03BD3034-8BA9-2B7C-3693-28A9563BCDB5}"/>
              </a:ext>
            </a:extLst>
          </p:cNvPr>
          <p:cNvSpPr txBox="1"/>
          <p:nvPr/>
        </p:nvSpPr>
        <p:spPr>
          <a:xfrm>
            <a:off x="5148656" y="4861069"/>
            <a:ext cx="1266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Grid Search</a:t>
            </a:r>
            <a:endParaRPr lang="es-PE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A846102-6A04-AE39-1C37-5BBDD5FE9810}"/>
              </a:ext>
            </a:extLst>
          </p:cNvPr>
          <p:cNvSpPr txBox="1"/>
          <p:nvPr/>
        </p:nvSpPr>
        <p:spPr>
          <a:xfrm>
            <a:off x="5148656" y="5230401"/>
            <a:ext cx="31836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CNN(</a:t>
            </a:r>
            <a:r>
              <a:rPr lang="es-MX" dirty="0" err="1"/>
              <a:t>Resnet</a:t>
            </a:r>
            <a:r>
              <a:rPr lang="es-MX" dirty="0"/>
              <a:t>) vs </a:t>
            </a:r>
            <a:r>
              <a:rPr lang="es-MX" dirty="0" err="1"/>
              <a:t>Transfomer</a:t>
            </a:r>
            <a:r>
              <a:rPr lang="es-MX" dirty="0"/>
              <a:t>(</a:t>
            </a:r>
            <a:r>
              <a:rPr lang="es-MX" dirty="0" err="1"/>
              <a:t>ViT</a:t>
            </a:r>
            <a:r>
              <a:rPr lang="es-MX" dirty="0"/>
              <a:t>)</a:t>
            </a:r>
            <a:endParaRPr lang="es-PE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BB21E08-7112-82F4-CF62-1FD41EEC68F8}"/>
              </a:ext>
            </a:extLst>
          </p:cNvPr>
          <p:cNvSpPr txBox="1"/>
          <p:nvPr/>
        </p:nvSpPr>
        <p:spPr>
          <a:xfrm>
            <a:off x="5148656" y="5599733"/>
            <a:ext cx="3281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BERT </a:t>
            </a:r>
            <a:r>
              <a:rPr lang="es-MX" dirty="0" err="1"/>
              <a:t>tiny</a:t>
            </a:r>
            <a:r>
              <a:rPr lang="es-MX" dirty="0"/>
              <a:t> vs </a:t>
            </a:r>
            <a:r>
              <a:rPr lang="es-MX" dirty="0" err="1"/>
              <a:t>DistilBERT</a:t>
            </a:r>
            <a:r>
              <a:rPr lang="es-MX" dirty="0"/>
              <a:t> vs GPT-2</a:t>
            </a:r>
            <a:endParaRPr lang="es-PE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D773D0BA-7240-8C15-017E-6B6819791DA6}"/>
              </a:ext>
            </a:extLst>
          </p:cNvPr>
          <p:cNvSpPr txBox="1"/>
          <p:nvPr/>
        </p:nvSpPr>
        <p:spPr>
          <a:xfrm>
            <a:off x="5148656" y="6003536"/>
            <a:ext cx="2613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Temperatura: 0.07 vs 0.05</a:t>
            </a:r>
            <a:endParaRPr lang="es-PE" dirty="0"/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32738B15-F103-5000-2C15-EBAFC838DB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81173"/>
            <a:ext cx="5879431" cy="2347827"/>
          </a:xfrm>
          <a:prstGeom prst="rect">
            <a:avLst/>
          </a:prstGeom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73B8F5CD-B05A-71AE-F5D0-9AE7BBD90DA0}"/>
              </a:ext>
            </a:extLst>
          </p:cNvPr>
          <p:cNvSpPr txBox="1"/>
          <p:nvPr/>
        </p:nvSpPr>
        <p:spPr>
          <a:xfrm>
            <a:off x="1984443" y="3456517"/>
            <a:ext cx="1992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Función de pérdida</a:t>
            </a:r>
            <a:endParaRPr lang="es-PE" dirty="0"/>
          </a:p>
        </p:txBody>
      </p:sp>
      <p:pic>
        <p:nvPicPr>
          <p:cNvPr id="1028" name="Picture 4" descr="Dataset free icons designed by orvipixel">
            <a:extLst>
              <a:ext uri="{FF2B5EF4-FFF2-40B4-BE49-F238E27FC236}">
                <a16:creationId xmlns:a16="http://schemas.microsoft.com/office/drawing/2014/main" id="{F543C981-DB5B-03C8-9781-E29332A42C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4749" y="984070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CuadroTexto 24">
            <a:extLst>
              <a:ext uri="{FF2B5EF4-FFF2-40B4-BE49-F238E27FC236}">
                <a16:creationId xmlns:a16="http://schemas.microsoft.com/office/drawing/2014/main" id="{0499B0A0-4908-9D87-58AB-586827F66E48}"/>
              </a:ext>
            </a:extLst>
          </p:cNvPr>
          <p:cNvSpPr txBox="1"/>
          <p:nvPr/>
        </p:nvSpPr>
        <p:spPr>
          <a:xfrm>
            <a:off x="9100419" y="3343591"/>
            <a:ext cx="1266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/>
              <a:t>Flickr8k</a:t>
            </a:r>
          </a:p>
        </p:txBody>
      </p:sp>
    </p:spTree>
    <p:extLst>
      <p:ext uri="{BB962C8B-B14F-4D97-AF65-F5344CB8AC3E}">
        <p14:creationId xmlns:p14="http://schemas.microsoft.com/office/powerpoint/2010/main" val="3911167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ADF48-E912-C213-E47F-D1B4D392F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A6FF188-89A7-280F-78A4-130B1B1013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7CA754A5-D861-232F-DBEC-F0AE7EFED83C}"/>
              </a:ext>
            </a:extLst>
          </p:cNvPr>
          <p:cNvSpPr txBox="1"/>
          <p:nvPr/>
        </p:nvSpPr>
        <p:spPr>
          <a:xfrm flipH="1">
            <a:off x="774890" y="194396"/>
            <a:ext cx="51297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s-MX" sz="2800" b="1" dirty="0"/>
              <a:t>M</a:t>
            </a:r>
            <a:r>
              <a:rPr lang="es-PE" sz="2800" b="1" dirty="0" err="1"/>
              <a:t>étricas</a:t>
            </a:r>
            <a:r>
              <a:rPr lang="es-PE" sz="2800" b="1" dirty="0"/>
              <a:t> y resultados</a:t>
            </a:r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FC1815A3-938E-7E92-3B54-6D487A7986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584" y="1297253"/>
            <a:ext cx="6477904" cy="3477110"/>
          </a:xfrm>
          <a:prstGeom prst="rect">
            <a:avLst/>
          </a:prstGeom>
        </p:spPr>
      </p:pic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F3F52F49-0B91-9671-05E1-E0E090D22D8D}"/>
              </a:ext>
            </a:extLst>
          </p:cNvPr>
          <p:cNvCxnSpPr/>
          <p:nvPr/>
        </p:nvCxnSpPr>
        <p:spPr>
          <a:xfrm>
            <a:off x="457200" y="2615184"/>
            <a:ext cx="630828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uadroTexto 30">
            <a:extLst>
              <a:ext uri="{FF2B5EF4-FFF2-40B4-BE49-F238E27FC236}">
                <a16:creationId xmlns:a16="http://schemas.microsoft.com/office/drawing/2014/main" id="{AB64FCF9-4E9E-9DB7-11E9-40992203FBB8}"/>
              </a:ext>
            </a:extLst>
          </p:cNvPr>
          <p:cNvSpPr txBox="1"/>
          <p:nvPr/>
        </p:nvSpPr>
        <p:spPr>
          <a:xfrm>
            <a:off x="2393321" y="4787884"/>
            <a:ext cx="1266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Grid Search</a:t>
            </a:r>
            <a:endParaRPr lang="es-PE" dirty="0"/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F5E950DC-6392-9E47-4B91-1D64DD0D40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1927" y="2417234"/>
            <a:ext cx="3134162" cy="1514686"/>
          </a:xfrm>
          <a:prstGeom prst="rect">
            <a:avLst/>
          </a:prstGeom>
        </p:spPr>
      </p:pic>
      <p:sp>
        <p:nvSpPr>
          <p:cNvPr id="34" name="CuadroTexto 33">
            <a:extLst>
              <a:ext uri="{FF2B5EF4-FFF2-40B4-BE49-F238E27FC236}">
                <a16:creationId xmlns:a16="http://schemas.microsoft.com/office/drawing/2014/main" id="{53658837-6CC4-59C5-CEC1-492BABA6B5F9}"/>
              </a:ext>
            </a:extLst>
          </p:cNvPr>
          <p:cNvSpPr txBox="1"/>
          <p:nvPr/>
        </p:nvSpPr>
        <p:spPr>
          <a:xfrm>
            <a:off x="8668512" y="3931920"/>
            <a:ext cx="1524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Mejor modelo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966384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7E689-C6C0-6FCE-FF0F-F0F0602FC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89A95D3-2FEE-B7FC-AA83-03E7FCFE21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1DB4E8A-3206-71E4-F760-7AB477A0ACCB}"/>
              </a:ext>
            </a:extLst>
          </p:cNvPr>
          <p:cNvSpPr txBox="1"/>
          <p:nvPr/>
        </p:nvSpPr>
        <p:spPr>
          <a:xfrm flipH="1">
            <a:off x="747458" y="194396"/>
            <a:ext cx="51297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s-MX" sz="2800" b="1" dirty="0"/>
              <a:t>Relación de cuadernos.</a:t>
            </a:r>
            <a:endParaRPr lang="es-PE" sz="2800" b="1" dirty="0"/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01CAA4FE-4D3D-707B-3D11-BF4A5DFA2E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2585991"/>
              </p:ext>
            </p:extLst>
          </p:nvPr>
        </p:nvGraphicFramePr>
        <p:xfrm>
          <a:off x="1813242" y="1195154"/>
          <a:ext cx="8127999" cy="33585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60852432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41730487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671741623"/>
                    </a:ext>
                  </a:extLst>
                </a:gridCol>
              </a:tblGrid>
              <a:tr h="490486">
                <a:tc>
                  <a:txBody>
                    <a:bodyPr/>
                    <a:lstStyle/>
                    <a:p>
                      <a:r>
                        <a:rPr lang="es-MX" dirty="0"/>
                        <a:t>Cuaderno 6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Cuaderno 9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Cuaderno 10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8711543"/>
                  </a:ext>
                </a:extLst>
              </a:tr>
              <a:tr h="2868072">
                <a:tc>
                  <a:txBody>
                    <a:bodyPr/>
                    <a:lstStyle/>
                    <a:p>
                      <a:r>
                        <a:rPr lang="es-MX" dirty="0"/>
                        <a:t>BI ENCODERS CONSTRASTIVOS. 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Muestra la extracción de </a:t>
                      </a:r>
                      <a:r>
                        <a:rPr lang="es-MX" dirty="0" err="1"/>
                        <a:t>embedings</a:t>
                      </a:r>
                      <a:r>
                        <a:rPr lang="es-MX" dirty="0"/>
                        <a:t>, además nos muestra los negativos difíciles(la descripción comparte el contexto visual de la imagen), además del uso de LiT sobre </a:t>
                      </a:r>
                      <a:r>
                        <a:rPr lang="es-MX" dirty="0" err="1"/>
                        <a:t>OpenCLIP</a:t>
                      </a:r>
                      <a:r>
                        <a:rPr lang="es-MX" dirty="0"/>
                        <a:t> por los recursos.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Conexión de las representaciones finales a una base de datos vectoriales(FAISS), principalmente lo usaremos para el </a:t>
                      </a:r>
                      <a:r>
                        <a:rPr lang="es-MX" dirty="0" err="1"/>
                        <a:t>retrieval</a:t>
                      </a:r>
                      <a:r>
                        <a:rPr lang="es-MX" dirty="0"/>
                        <a:t> top k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7694429"/>
                  </a:ext>
                </a:extLst>
              </a:tr>
            </a:tbl>
          </a:graphicData>
        </a:graphic>
      </p:graphicFrame>
      <p:pic>
        <p:nvPicPr>
          <p:cNvPr id="2052" name="Picture 4" descr="Cross-encoders vs Bi-encoders : A deep-dive into text encoding methods | by  Rahul Bhatia | Medium">
            <a:extLst>
              <a:ext uri="{FF2B5EF4-FFF2-40B4-BE49-F238E27FC236}">
                <a16:creationId xmlns:a16="http://schemas.microsoft.com/office/drawing/2014/main" id="{4ED15F11-1C88-1546-08DE-F18935B2D0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2426" y="2331720"/>
            <a:ext cx="1918132" cy="2029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48637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06207-C53B-E27A-8515-A40A489AE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B702BF09-DF8E-DAE1-B187-070C2E47CE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032494B5-7A82-1C31-41E3-A0C1F0816371}"/>
              </a:ext>
            </a:extLst>
          </p:cNvPr>
          <p:cNvSpPr txBox="1"/>
          <p:nvPr/>
        </p:nvSpPr>
        <p:spPr>
          <a:xfrm flipH="1">
            <a:off x="747458" y="194396"/>
            <a:ext cx="93292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s-PE" sz="2800" dirty="0"/>
              <a:t>Evidencia Reproducible (Implementación FAISS)</a:t>
            </a:r>
            <a:endParaRPr lang="es-PE" sz="2800" b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C80F3C9-A496-C300-551D-21C5A1856D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3174" y="1138136"/>
            <a:ext cx="8085652" cy="361977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0E171D85-0AE0-41E9-3392-6E53240A3530}"/>
              </a:ext>
            </a:extLst>
          </p:cNvPr>
          <p:cNvSpPr txBox="1"/>
          <p:nvPr/>
        </p:nvSpPr>
        <p:spPr>
          <a:xfrm>
            <a:off x="2409990" y="4777445"/>
            <a:ext cx="70428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Se genero el vector </a:t>
            </a:r>
            <a:r>
              <a:rPr lang="es-MX" dirty="0" err="1"/>
              <a:t>embeding</a:t>
            </a:r>
            <a:r>
              <a:rPr lang="es-MX" dirty="0"/>
              <a:t> tanto para imágenes como texto, y según la consulta se extrae el texto como la imagen similar, además de la creación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825825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D5552-7DDF-C817-B204-EF5395F98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A13A8E8E-BA5F-0CC1-2919-959ACBA90C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60251825-E1D8-C939-B79A-0F63DD834A3E}"/>
              </a:ext>
            </a:extLst>
          </p:cNvPr>
          <p:cNvSpPr txBox="1"/>
          <p:nvPr/>
        </p:nvSpPr>
        <p:spPr>
          <a:xfrm flipH="1">
            <a:off x="640454" y="195590"/>
            <a:ext cx="93292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s-MX" sz="2800" dirty="0"/>
              <a:t>Relación con las Actividades del Curso</a:t>
            </a:r>
            <a:endParaRPr lang="es-PE" sz="2800" b="1" dirty="0"/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6221CC54-03A7-0548-6278-A17FE8AF39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6047596"/>
              </p:ext>
            </p:extLst>
          </p:nvPr>
        </p:nvGraphicFramePr>
        <p:xfrm>
          <a:off x="1949704" y="1286594"/>
          <a:ext cx="8127999" cy="38634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48224676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23784757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179977733"/>
                    </a:ext>
                  </a:extLst>
                </a:gridCol>
              </a:tblGrid>
              <a:tr h="281485">
                <a:tc>
                  <a:txBody>
                    <a:bodyPr/>
                    <a:lstStyle/>
                    <a:p>
                      <a:r>
                        <a:rPr lang="es-MX" dirty="0"/>
                        <a:t>Actividad 1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Actividad 2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Actividad 3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4848549"/>
                  </a:ext>
                </a:extLst>
              </a:tr>
              <a:tr h="3497697">
                <a:tc>
                  <a:txBody>
                    <a:bodyPr/>
                    <a:lstStyle/>
                    <a:p>
                      <a:r>
                        <a:rPr lang="es-MX" dirty="0"/>
                        <a:t>El agente de e-</a:t>
                      </a:r>
                      <a:r>
                        <a:rPr lang="es-MX" dirty="0" err="1"/>
                        <a:t>commerce</a:t>
                      </a:r>
                      <a:r>
                        <a:rPr lang="es-MX" dirty="0"/>
                        <a:t> requiere escalabilidad. LiT y FAISS juntos resuelven el problema de buscar un producto a partir de una descripción esto puede ser usado como un </a:t>
                      </a:r>
                      <a:r>
                        <a:rPr lang="es-MX" dirty="0" err="1"/>
                        <a:t>tool</a:t>
                      </a:r>
                      <a:r>
                        <a:rPr lang="es-MX" dirty="0"/>
                        <a:t>, además que definimos las métricas como </a:t>
                      </a:r>
                      <a:r>
                        <a:rPr lang="es-MX" dirty="0" err="1"/>
                        <a:t>R@k</a:t>
                      </a:r>
                      <a:r>
                        <a:rPr lang="es-MX" dirty="0"/>
                        <a:t>.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Replicamos el </a:t>
                      </a:r>
                      <a:r>
                        <a:rPr lang="es-MX" dirty="0" err="1"/>
                        <a:t>matching</a:t>
                      </a:r>
                      <a:r>
                        <a:rPr lang="es-MX" dirty="0"/>
                        <a:t> Imagen-Texto usando el </a:t>
                      </a:r>
                      <a:r>
                        <a:rPr lang="es-MX" dirty="0" err="1"/>
                        <a:t>dataset</a:t>
                      </a:r>
                      <a:r>
                        <a:rPr lang="es-MX" dirty="0"/>
                        <a:t> de Flickr8k, demostrando el uso de </a:t>
                      </a:r>
                      <a:r>
                        <a:rPr lang="es-MX" i="1" dirty="0" err="1"/>
                        <a:t>embeddings</a:t>
                      </a:r>
                      <a:r>
                        <a:rPr lang="es-MX" dirty="0"/>
                        <a:t> sobre un catálogo visual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Evolucionamos el pipeline. Pasamos del emparejamiento básico a un aprendizaje contrastivo complejo (</a:t>
                      </a:r>
                      <a:r>
                        <a:rPr lang="es-MX" dirty="0" err="1"/>
                        <a:t>InfoNCE</a:t>
                      </a:r>
                      <a:r>
                        <a:rPr lang="es-MX" dirty="0"/>
                        <a:t>) apoyado en el manejo de negativos difíciles para mejorar las fronteras de decisión semántica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46444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5227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1AB0D-B0B3-6483-7584-D27F62823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44BEB7E8-EE13-6C38-D0A4-3A0131A266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E7E2A245-1CE4-0A46-ABFB-90E344ACA5A3}"/>
              </a:ext>
            </a:extLst>
          </p:cNvPr>
          <p:cNvSpPr txBox="1"/>
          <p:nvPr/>
        </p:nvSpPr>
        <p:spPr>
          <a:xfrm flipH="1">
            <a:off x="1652714" y="778568"/>
            <a:ext cx="32440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s-PE" sz="2800" dirty="0"/>
              <a:t>Limitaciones</a:t>
            </a:r>
            <a:endParaRPr lang="es-PE" sz="2800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6BE351D-7CF6-9FD0-08E2-16F732845CFC}"/>
              </a:ext>
            </a:extLst>
          </p:cNvPr>
          <p:cNvSpPr txBox="1"/>
          <p:nvPr/>
        </p:nvSpPr>
        <p:spPr>
          <a:xfrm>
            <a:off x="1026414" y="1301788"/>
            <a:ext cx="574014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Limitaciones:</a:t>
            </a:r>
            <a:r>
              <a:rPr lang="es-MX" dirty="0"/>
              <a:t> La torre de imagen no aprende. Si el e-</a:t>
            </a:r>
            <a:r>
              <a:rPr lang="es-MX" dirty="0" err="1"/>
              <a:t>commerce</a:t>
            </a:r>
            <a:r>
              <a:rPr lang="es-MX" dirty="0"/>
              <a:t> tiene productos visualmente extraños que el modelo </a:t>
            </a:r>
            <a:r>
              <a:rPr lang="es-MX" dirty="0" err="1"/>
              <a:t>preentrenado</a:t>
            </a:r>
            <a:r>
              <a:rPr lang="es-MX" dirty="0"/>
              <a:t> no comprende, la torre de texto no podrá compensarlo por completo, además que los modelos contrastivos sin LiT son casi imposibles de entrenas. Hablando de modelos fundacionales como CLIP.</a:t>
            </a:r>
            <a:endParaRPr lang="es-PE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1E4BA76-46D1-2705-7C6C-DDE2F72FE15D}"/>
              </a:ext>
            </a:extLst>
          </p:cNvPr>
          <p:cNvSpPr txBox="1"/>
          <p:nvPr/>
        </p:nvSpPr>
        <p:spPr>
          <a:xfrm>
            <a:off x="5369814" y="3986553"/>
            <a:ext cx="609447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Font typeface="Arial" panose="020B0604020202020204" pitchFamily="34" charset="0"/>
              <a:buChar char="•"/>
            </a:pPr>
            <a:r>
              <a:rPr lang="es-MX" i="1" dirty="0">
                <a:effectLst/>
              </a:rPr>
              <a:t>Si nos enfrentamos a un "</a:t>
            </a:r>
            <a:r>
              <a:rPr lang="es-MX" i="1" dirty="0" err="1">
                <a:effectLst/>
              </a:rPr>
              <a:t>domain</a:t>
            </a:r>
            <a:r>
              <a:rPr lang="es-MX" i="1" dirty="0">
                <a:effectLst/>
              </a:rPr>
              <a:t> shift" masivo (ej. radiografías médicas o componentes electrónicos microscópicos), ¿hasta qué punto es sostenible mantener la torre de imagen bloqueada en lugar de asumir el costo de reentrenarla?</a:t>
            </a:r>
            <a:endParaRPr lang="es-MX" dirty="0">
              <a:effectLst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9A77AF8-AD01-39BB-1CA2-AE6A5E5113CF}"/>
              </a:ext>
            </a:extLst>
          </p:cNvPr>
          <p:cNvSpPr txBox="1"/>
          <p:nvPr/>
        </p:nvSpPr>
        <p:spPr>
          <a:xfrm>
            <a:off x="7244334" y="3617221"/>
            <a:ext cx="19819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b="1" dirty="0"/>
              <a:t>Pregunta Crítica</a:t>
            </a:r>
          </a:p>
        </p:txBody>
      </p:sp>
      <p:pic>
        <p:nvPicPr>
          <p:cNvPr id="3074" name="Picture 2" descr="Limitación - Iconos gratis de señalización">
            <a:extLst>
              <a:ext uri="{FF2B5EF4-FFF2-40B4-BE49-F238E27FC236}">
                <a16:creationId xmlns:a16="http://schemas.microsoft.com/office/drawing/2014/main" id="{50DD8EC4-1372-2001-7D89-E56CDC3A53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852" y="778568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2E86B02B-F88F-FAE5-E283-924D4EDE45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5704" y="3525829"/>
            <a:ext cx="2398776" cy="2398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80917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A6BFA4-E9C8-7447-7C6C-6DA59B7EB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9411" y="2395598"/>
            <a:ext cx="4553712" cy="2679192"/>
          </a:xfrm>
        </p:spPr>
        <p:txBody>
          <a:bodyPr>
            <a:normAutofit/>
          </a:bodyPr>
          <a:lstStyle/>
          <a:p>
            <a:r>
              <a:rPr lang="es-MX" sz="6600" b="1" dirty="0"/>
              <a:t>GRACIAS</a:t>
            </a:r>
            <a:endParaRPr lang="es-PE" sz="6600" b="1" dirty="0"/>
          </a:p>
        </p:txBody>
      </p:sp>
      <p:pic>
        <p:nvPicPr>
          <p:cNvPr id="6146" name="Picture 2" descr="Bot - Iconos gratis de comunicaciones">
            <a:extLst>
              <a:ext uri="{FF2B5EF4-FFF2-40B4-BE49-F238E27FC236}">
                <a16:creationId xmlns:a16="http://schemas.microsoft.com/office/drawing/2014/main" id="{8BA0EB6B-757A-7135-EFD8-C8CF20E20C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611" y="58171"/>
            <a:ext cx="48768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20775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FD3D4-D94B-2251-BE33-DA5DC8B52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>
            <a:extLst>
              <a:ext uri="{FF2B5EF4-FFF2-40B4-BE49-F238E27FC236}">
                <a16:creationId xmlns:a16="http://schemas.microsoft.com/office/drawing/2014/main" id="{3365588D-3DFE-36CB-EE1A-58CE18747BA4}"/>
              </a:ext>
            </a:extLst>
          </p:cNvPr>
          <p:cNvSpPr txBox="1">
            <a:spLocks/>
          </p:cNvSpPr>
          <p:nvPr/>
        </p:nvSpPr>
        <p:spPr>
          <a:xfrm>
            <a:off x="259579" y="-26788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400" b="1" dirty="0"/>
              <a:t>Anexos. Una vista dinámica al </a:t>
            </a:r>
            <a:r>
              <a:rPr lang="es-MX" sz="2400" b="1" dirty="0" err="1"/>
              <a:t>infoNCE</a:t>
            </a:r>
            <a:r>
              <a:rPr lang="es-MX" sz="2400" b="1" dirty="0"/>
              <a:t>, variación por temperatura.</a:t>
            </a:r>
            <a:endParaRPr lang="es-PE" sz="2400" b="1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1A3F3E09-0096-80E4-10F5-1407BEDD7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5275" y="1057674"/>
            <a:ext cx="3487146" cy="4117799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9052B604-FF72-1141-9588-4969EA0E16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643" y="1057674"/>
            <a:ext cx="3448122" cy="4117798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070E9E24-DF63-22B8-AF7F-E7B0BF1158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1147" y="1057673"/>
            <a:ext cx="3509705" cy="4117798"/>
          </a:xfrm>
          <a:prstGeom prst="rect">
            <a:avLst/>
          </a:prstGeom>
        </p:spPr>
      </p:pic>
      <p:sp>
        <p:nvSpPr>
          <p:cNvPr id="25" name="CuadroTexto 24">
            <a:extLst>
              <a:ext uri="{FF2B5EF4-FFF2-40B4-BE49-F238E27FC236}">
                <a16:creationId xmlns:a16="http://schemas.microsoft.com/office/drawing/2014/main" id="{AB585371-4F88-F449-FB0D-9F22F6A82D26}"/>
              </a:ext>
            </a:extLst>
          </p:cNvPr>
          <p:cNvSpPr txBox="1"/>
          <p:nvPr/>
        </p:nvSpPr>
        <p:spPr>
          <a:xfrm>
            <a:off x="1272272" y="5175471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0.07</a:t>
            </a:r>
            <a:endParaRPr lang="es-PE"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D5A06692-FCC9-1EB9-DA29-64D65FAF406C}"/>
              </a:ext>
            </a:extLst>
          </p:cNvPr>
          <p:cNvSpPr txBox="1"/>
          <p:nvPr/>
        </p:nvSpPr>
        <p:spPr>
          <a:xfrm>
            <a:off x="695325" y="5544803"/>
            <a:ext cx="1890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Usado en el </a:t>
            </a:r>
            <a:r>
              <a:rPr lang="es-MX" dirty="0" err="1"/>
              <a:t>paper</a:t>
            </a:r>
            <a:endParaRPr lang="es-PE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E8ACC5A5-CCA4-A201-968A-34D228F12FE0}"/>
              </a:ext>
            </a:extLst>
          </p:cNvPr>
          <p:cNvSpPr txBox="1"/>
          <p:nvPr/>
        </p:nvSpPr>
        <p:spPr>
          <a:xfrm>
            <a:off x="5830801" y="5175471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0.5</a:t>
            </a:r>
            <a:endParaRPr lang="es-PE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4E87855E-22E1-450D-8700-5754693E0C9D}"/>
              </a:ext>
            </a:extLst>
          </p:cNvPr>
          <p:cNvSpPr txBox="1"/>
          <p:nvPr/>
        </p:nvSpPr>
        <p:spPr>
          <a:xfrm>
            <a:off x="4763574" y="5546056"/>
            <a:ext cx="2915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Usado en la experimentación</a:t>
            </a:r>
            <a:endParaRPr lang="es-PE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76D93C79-78C3-7D55-C0CC-A12247AE50ED}"/>
              </a:ext>
            </a:extLst>
          </p:cNvPr>
          <p:cNvSpPr txBox="1"/>
          <p:nvPr/>
        </p:nvSpPr>
        <p:spPr>
          <a:xfrm>
            <a:off x="10028840" y="5175471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1.00</a:t>
            </a:r>
            <a:endParaRPr lang="es-PE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83BB7843-E0F2-E303-8C72-51E92B27DA20}"/>
              </a:ext>
            </a:extLst>
          </p:cNvPr>
          <p:cNvSpPr txBox="1"/>
          <p:nvPr/>
        </p:nvSpPr>
        <p:spPr>
          <a:xfrm>
            <a:off x="9451893" y="5544803"/>
            <a:ext cx="20447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Casi no hay diferencias entre pares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4812665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7C18B5-1F3F-A582-9511-ABC85DAC0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635" y="-267888"/>
            <a:ext cx="10515600" cy="1325563"/>
          </a:xfrm>
        </p:spPr>
        <p:txBody>
          <a:bodyPr>
            <a:normAutofit/>
          </a:bodyPr>
          <a:lstStyle/>
          <a:p>
            <a:r>
              <a:rPr lang="es-MX" sz="2400" b="1" dirty="0"/>
              <a:t>Anexos.(Desarrollo de un </a:t>
            </a:r>
            <a:r>
              <a:rPr lang="es-MX" sz="2400" b="1" dirty="0" err="1"/>
              <a:t>retrieval</a:t>
            </a:r>
            <a:r>
              <a:rPr lang="es-MX" sz="2400" b="1" dirty="0"/>
              <a:t> </a:t>
            </a:r>
            <a:r>
              <a:rPr lang="es-MX" sz="2400" b="1" dirty="0" err="1"/>
              <a:t>text-image</a:t>
            </a:r>
            <a:r>
              <a:rPr lang="es-MX" sz="2400" b="1" dirty="0"/>
              <a:t>)</a:t>
            </a:r>
            <a:endParaRPr lang="es-PE" sz="2400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99E92DF-4814-0E13-78E2-E9B4FAE638A3}"/>
              </a:ext>
            </a:extLst>
          </p:cNvPr>
          <p:cNvSpPr txBox="1"/>
          <p:nvPr/>
        </p:nvSpPr>
        <p:spPr>
          <a:xfrm>
            <a:off x="7946036" y="688343"/>
            <a:ext cx="3916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http://localhost:8000/static/index.html 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943A110-93BF-B7D7-29F8-C27C286F17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6905"/>
          <a:stretch>
            <a:fillRect/>
          </a:stretch>
        </p:blipFill>
        <p:spPr>
          <a:xfrm>
            <a:off x="838200" y="1271016"/>
            <a:ext cx="5425505" cy="394398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71496063-F1A4-4FF7-5EB4-13A1491DEDD3}"/>
              </a:ext>
            </a:extLst>
          </p:cNvPr>
          <p:cNvSpPr txBox="1"/>
          <p:nvPr/>
        </p:nvSpPr>
        <p:spPr>
          <a:xfrm>
            <a:off x="1054608" y="5324724"/>
            <a:ext cx="50413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Uso de Docker </a:t>
            </a:r>
            <a:r>
              <a:rPr lang="es-MX" dirty="0" err="1"/>
              <a:t>compose</a:t>
            </a:r>
            <a:r>
              <a:rPr lang="es-MX" dirty="0"/>
              <a:t> para desplegar una mini app para obtener las imágenes y textos mas cercanos dada una descripción</a:t>
            </a:r>
            <a:endParaRPr lang="es-PE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CB340FC5-DD0B-19BF-682D-794BDC6A05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7657" y="997091"/>
            <a:ext cx="2827578" cy="2183745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1936D403-4815-1CD1-F2A5-1AE74428E8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2532" y="4202760"/>
            <a:ext cx="2741403" cy="2243928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C2ACDC17-1DE8-D223-1C90-46663FBF5B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7555" y="4202760"/>
            <a:ext cx="1940338" cy="1947967"/>
          </a:xfrm>
          <a:prstGeom prst="rect">
            <a:avLst/>
          </a:prstGeom>
        </p:spPr>
      </p:pic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EC498691-49AC-C1C0-5487-983088C0167D}"/>
              </a:ext>
            </a:extLst>
          </p:cNvPr>
          <p:cNvCxnSpPr/>
          <p:nvPr/>
        </p:nvCxnSpPr>
        <p:spPr>
          <a:xfrm flipH="1">
            <a:off x="8074152" y="3429000"/>
            <a:ext cx="1362456" cy="5943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81BCAE7A-AA82-52C9-D4FF-2E988171E0D8}"/>
              </a:ext>
            </a:extLst>
          </p:cNvPr>
          <p:cNvCxnSpPr>
            <a:cxnSpLocks/>
          </p:cNvCxnSpPr>
          <p:nvPr/>
        </p:nvCxnSpPr>
        <p:spPr>
          <a:xfrm>
            <a:off x="9436608" y="3429000"/>
            <a:ext cx="1154841" cy="5943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08C6B36-BABF-64BD-863C-26CB483F796D}"/>
              </a:ext>
            </a:extLst>
          </p:cNvPr>
          <p:cNvSpPr txBox="1"/>
          <p:nvPr/>
        </p:nvSpPr>
        <p:spPr>
          <a:xfrm>
            <a:off x="6885432" y="6441422"/>
            <a:ext cx="1657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Textos cercanos</a:t>
            </a:r>
            <a:endParaRPr lang="es-PE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345FD5ED-D0DC-8475-EF32-714EADE1264F}"/>
              </a:ext>
            </a:extLst>
          </p:cNvPr>
          <p:cNvSpPr txBox="1"/>
          <p:nvPr/>
        </p:nvSpPr>
        <p:spPr>
          <a:xfrm>
            <a:off x="9626835" y="6441422"/>
            <a:ext cx="1958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Imágenes cercanas</a:t>
            </a:r>
            <a:endParaRPr lang="es-PE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4322AC1-DCDD-EEA0-9AD1-3B554442DBCD}"/>
              </a:ext>
            </a:extLst>
          </p:cNvPr>
          <p:cNvSpPr txBox="1"/>
          <p:nvPr/>
        </p:nvSpPr>
        <p:spPr>
          <a:xfrm>
            <a:off x="8432612" y="3117275"/>
            <a:ext cx="17026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Consulta textual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764042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Tema de 2022">
  <a:themeElements>
    <a:clrScheme name="Office 2013 - Tema de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Tema de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Tema de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597</TotalTime>
  <Words>578</Words>
  <Application>Microsoft Office PowerPoint</Application>
  <PresentationFormat>Panorámica</PresentationFormat>
  <Paragraphs>65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2013 - Tema de 2022</vt:lpstr>
      <vt:lpstr>OPEN CLIP/ LiT Generando un retrieval</vt:lpstr>
      <vt:lpstr>Problema, motivación y modalidades.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GRACIAS</vt:lpstr>
      <vt:lpstr>Presentación de PowerPoint</vt:lpstr>
      <vt:lpstr>Anexos.(Desarrollo de un retrieval text-image)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Royer  Lopez Flores</dc:creator>
  <cp:lastModifiedBy>Royer  Lopez Flores</cp:lastModifiedBy>
  <cp:revision>3</cp:revision>
  <dcterms:created xsi:type="dcterms:W3CDTF">2026-05-09T10:07:34Z</dcterms:created>
  <dcterms:modified xsi:type="dcterms:W3CDTF">2026-05-16T02:53:00Z</dcterms:modified>
</cp:coreProperties>
</file>